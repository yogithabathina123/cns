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731520"/>
            <a:ext cx="2377440" cy="164592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1051560"/>
            <a:ext cx="2011680" cy="164592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1371600"/>
            <a:ext cx="2560320" cy="164592"/>
          </a:xfrm>
          <a:prstGeom prst="rect">
            <a:avLst/>
          </a:prstGeom>
          <a:solidFill>
            <a:srgbClr val="72E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58368"/>
            <a:ext cx="6217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7D2DC"/>
                </a:solidFill>
                <a:latin typeface="Aptos"/>
              </a:rPr>
              <a:t>TECHNICAL PRESENTATION  •  CRYPTOGRAPHY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698480" cy="1508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5F8FF"/>
                </a:solidFill>
                <a:latin typeface="Aptos"/>
              </a:rPr>
              <a:t>Substitution vs
Transposition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82112"/>
            <a:ext cx="969264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FFC25C"/>
                </a:solidFill>
                <a:latin typeface="Aptos"/>
              </a:rPr>
              <a:t>Which Provides Better Security?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4160520"/>
            <a:ext cx="6400800" cy="1298448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407408"/>
            <a:ext cx="58978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8C5DB"/>
                </a:solidFill>
                <a:latin typeface="Aptos"/>
              </a:rPr>
              <a:t>A comparison of two classical cipher techniques,
their strengths, weaknesses, and modern relevance.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806440"/>
            <a:ext cx="50292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Presented by: B Yogitha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144768"/>
            <a:ext cx="5029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8C5DB"/>
                </a:solidFill>
                <a:latin typeface="Aptos"/>
              </a:rPr>
              <a:t>Reg. No.: 192525437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492240"/>
            <a:ext cx="640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961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7D2DC"/>
                </a:solidFill>
                <a:latin typeface="Aptos"/>
              </a:rPr>
              <a:t>01 • CORE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F"/>
                </a:solidFill>
                <a:latin typeface="Aptos"/>
              </a:rPr>
              <a:t>Two Ways to Transform a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11109960" cy="22860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94960" cy="333756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" y="1719072"/>
            <a:ext cx="50292" cy="3008376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19072"/>
            <a:ext cx="5010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7D2DC"/>
                </a:solidFill>
                <a:latin typeface="Aptos"/>
              </a:rPr>
              <a:t>SUBSTITUTION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121408"/>
            <a:ext cx="501091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8FF"/>
                </a:solidFill>
                <a:latin typeface="Aptos"/>
              </a:rPr>
              <a:t>Replaces each plaintext symbol with another symbol.
Example: Caesar cipher, shift by 3
HELLO  →  KHOOR
The letters change, but their positions stay the same.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94960" cy="333756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7" y="1719072"/>
            <a:ext cx="50292" cy="3008376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5010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C25C"/>
                </a:solidFill>
                <a:latin typeface="Aptos"/>
              </a:rPr>
              <a:t>TRANSPOSITION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21408"/>
            <a:ext cx="5010912" cy="2624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8FF"/>
                </a:solidFill>
                <a:latin typeface="Aptos"/>
              </a:rPr>
              <a:t>Rearranges the positions of plaintext symbols.
Example: reverse the text
HELLO  →  OLLEH
The letters remain the same, but their order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5232"/>
            <a:ext cx="106984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Key distinction: substitution changes symbol identity; transposition changes symbol position.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961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7D2DC"/>
                </a:solidFill>
                <a:latin typeface="Aptos"/>
              </a:rPr>
              <a:t>02 •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F"/>
                </a:solidFill>
                <a:latin typeface="Aptos"/>
              </a:rPr>
              <a:t>How Substitution Ciphers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11109960" cy="22860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03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5120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37D2DC"/>
                </a:solidFill>
                <a:latin typeface="Aptos"/>
              </a:rPr>
              <a:t>Caesar cipher with key =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0574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865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2040" y="26791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29718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3009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5935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29718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3009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5935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29718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40" y="33009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8840" y="35935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29718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3009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35935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29718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3009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35935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2971800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8C5DB"/>
                </a:solidFill>
                <a:latin typeface="Aptos"/>
              </a:rPr>
              <a:t>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3300984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37D2DC"/>
                </a:solidFill>
                <a:latin typeface="Aptos"/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3593592"/>
            <a:ext cx="475488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80760" y="1600200"/>
            <a:ext cx="5303520" cy="1874519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99048" y="1764792"/>
            <a:ext cx="50292" cy="1545336"/>
          </a:xfrm>
          <a:prstGeom prst="rect">
            <a:avLst/>
          </a:prstGeom>
          <a:solidFill>
            <a:srgbClr val="72E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1764792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2E0AB"/>
                </a:solidFill>
                <a:latin typeface="Aptos"/>
              </a:rPr>
              <a:t>Encryption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81928" y="2167128"/>
            <a:ext cx="4919472" cy="11612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5F8FF"/>
                </a:solidFill>
                <a:latin typeface="Aptos"/>
              </a:rPr>
              <a:t>Plaintext:  ATTACK
Key:        +3
Ciphertext:  DWWDFN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80760" y="3703320"/>
            <a:ext cx="5303520" cy="150876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99048" y="3867911"/>
            <a:ext cx="50292" cy="1179576"/>
          </a:xfrm>
          <a:prstGeom prst="rect">
            <a:avLst/>
          </a:prstGeom>
          <a:solidFill>
            <a:srgbClr val="FF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81928" y="3867911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7A87"/>
                </a:solidFill>
                <a:latin typeface="Aptos"/>
              </a:rPr>
              <a:t>Security note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81928" y="4270248"/>
            <a:ext cx="4919472" cy="79552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F"/>
                </a:solidFill>
                <a:latin typeface="Aptos"/>
              </a:rPr>
              <a:t>Simple substitution preserves letter-frequency patterns, which can help attackers infer the message.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4983480"/>
            <a:ext cx="480060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C5DB"/>
                </a:solidFill>
                <a:latin typeface="Aptos"/>
              </a:rPr>
              <a:t>General idea: map each symbol to another using a key or rule.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961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7D2DC"/>
                </a:solidFill>
                <a:latin typeface="Aptos"/>
              </a:rPr>
              <a:t>03 •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F"/>
                </a:solidFill>
                <a:latin typeface="Aptos"/>
              </a:rPr>
              <a:t>How Transposition Ciphers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11109960" cy="22860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04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29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FFC25C"/>
                </a:solidFill>
                <a:latin typeface="Aptos"/>
              </a:rPr>
              <a:t>Example: reverse-order transposition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17904" y="2103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17904" y="2212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12848" y="2103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2212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2103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212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2103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2736" y="2212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103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37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212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788920"/>
            <a:ext cx="1280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C25C"/>
                </a:solidFill>
                <a:latin typeface="Aptos"/>
              </a:rPr>
              <a:t>↓ rearrange 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55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17904" y="3246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17904" y="3355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12848" y="3246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12848" y="3355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07792" y="3246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07792" y="3355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2736" y="3246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02736" y="3355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3246120"/>
            <a:ext cx="530352" cy="566928"/>
          </a:xfrm>
          <a:prstGeom prst="roundRect">
            <a:avLst/>
          </a:prstGeom>
          <a:solidFill>
            <a:srgbClr val="1E2D4B"/>
          </a:solidFill>
          <a:ln>
            <a:solidFill>
              <a:srgbClr val="FFC2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3355848"/>
            <a:ext cx="5303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5F8FF"/>
                </a:solidFill>
                <a:latin typeface="Aptos"/>
              </a:rPr>
              <a:t>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15000" y="1645920"/>
            <a:ext cx="5577840" cy="182880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33288" y="1810512"/>
            <a:ext cx="50292" cy="1499616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6168" y="1810512"/>
            <a:ext cx="51937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C25C"/>
                </a:solidFill>
                <a:latin typeface="Aptos"/>
              </a:rPr>
              <a:t>What changes?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16168" y="2212848"/>
            <a:ext cx="5193792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5F8FF"/>
                </a:solidFill>
                <a:latin typeface="Aptos"/>
              </a:rPr>
              <a:t>The order of symbols changes according to a key, such as a columnar route or permutation.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3703320"/>
            <a:ext cx="5577840" cy="160020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33288" y="3867911"/>
            <a:ext cx="50292" cy="1271016"/>
          </a:xfrm>
          <a:prstGeom prst="rect">
            <a:avLst/>
          </a:prstGeom>
          <a:solidFill>
            <a:srgbClr val="FF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16168" y="3867911"/>
            <a:ext cx="51937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7A87"/>
                </a:solidFill>
                <a:latin typeface="Aptos"/>
              </a:rPr>
              <a:t>Security note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16168" y="4270248"/>
            <a:ext cx="5193792" cy="8869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F"/>
                </a:solidFill>
                <a:latin typeface="Aptos"/>
              </a:rPr>
              <a:t>Letter frequencies are preserved, so frequency analysis still reveals useful clues.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846320"/>
            <a:ext cx="44805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8C5DB"/>
                </a:solidFill>
                <a:latin typeface="Aptos"/>
              </a:rPr>
              <a:t>The same letters are present; only their arrangement differs.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961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7D2DC"/>
                </a:solidFill>
                <a:latin typeface="Aptos"/>
              </a:rPr>
              <a:t>04 •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F"/>
                </a:solidFill>
                <a:latin typeface="Aptos"/>
              </a:rPr>
              <a:t>Side-by-Side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11109960" cy="22860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221991" cy="475488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55064"/>
            <a:ext cx="203911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7D2DC"/>
                </a:solidFill>
                <a:latin typeface="Aptos"/>
              </a:rPr>
              <a:t>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554480"/>
            <a:ext cx="4050791" cy="475488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1655064"/>
            <a:ext cx="386791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37D2DC"/>
                </a:solidFill>
                <a:latin typeface="Aptos"/>
              </a:rPr>
              <a:t>SUBSTITUTION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554480"/>
            <a:ext cx="4050791" cy="475488"/>
          </a:xfrm>
          <a:prstGeom prst="round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79" y="1655064"/>
            <a:ext cx="386791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C25C"/>
                </a:solidFill>
                <a:latin typeface="Aptos"/>
              </a:rPr>
              <a:t>TRANSPOSITION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22219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2039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Transformation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176272"/>
            <a:ext cx="40507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286000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Changes symbols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176272"/>
            <a:ext cx="40507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2286000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Changes positions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926079"/>
            <a:ext cx="2221991" cy="603504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35808"/>
            <a:ext cx="2039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2926079"/>
            <a:ext cx="4050791" cy="603504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035808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Caesar cipher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926079"/>
            <a:ext cx="4050791" cy="603504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79" y="3035808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Columnar transposition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675887"/>
            <a:ext cx="22219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785615"/>
            <a:ext cx="2039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Letter frequencies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17520" y="3675887"/>
            <a:ext cx="40507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785615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Usually altered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3675887"/>
            <a:ext cx="40507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79" y="3785615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Preserved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425696"/>
            <a:ext cx="2221991" cy="603504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35424"/>
            <a:ext cx="2039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Common attack clue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425696"/>
            <a:ext cx="4050791" cy="603504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8960" y="4535424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Frequency patterns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4425696"/>
            <a:ext cx="4050791" cy="603504"/>
          </a:xfrm>
          <a:prstGeom prst="roundRect">
            <a:avLst/>
          </a:prstGeom>
          <a:solidFill>
            <a:srgbClr val="121C30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79" y="4535424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Anagram / structure patterns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175504"/>
            <a:ext cx="22219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285232"/>
            <a:ext cx="20391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F8FF"/>
                </a:solidFill>
                <a:latin typeface="Aptos"/>
              </a:rPr>
              <a:t>Main limitation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17520" y="5175504"/>
            <a:ext cx="40507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5285232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Simple mappings can be solved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5175504"/>
            <a:ext cx="4050791" cy="603504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9479" y="5285232"/>
            <a:ext cx="3867911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Rearrangement alone hides little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897880"/>
            <a:ext cx="10607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C25C"/>
                </a:solidFill>
                <a:latin typeface="Aptos"/>
              </a:rPr>
              <a:t>Neither classical method is secure enough on its own for protecting modern sensitive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961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7D2DC"/>
                </a:solidFill>
                <a:latin typeface="Aptos"/>
              </a:rPr>
              <a:t>05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F"/>
                </a:solidFill>
                <a:latin typeface="Aptos"/>
              </a:rPr>
              <a:t>Which Provides Better Security?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11109960" cy="22860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5349240" cy="214884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50292" cy="1819656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19072"/>
            <a:ext cx="49651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7D2DC"/>
                </a:solidFill>
                <a:latin typeface="Aptos"/>
              </a:rPr>
              <a:t>Substitution alone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21408"/>
            <a:ext cx="4965192" cy="1435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5F8FF"/>
                </a:solidFill>
                <a:latin typeface="Aptos"/>
              </a:rPr>
              <a:t>Can hide the original letters, but simple ciphers leak statistical patterns and may be broken with frequency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49240" cy="214884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7" y="1719072"/>
            <a:ext cx="50292" cy="1819656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19072"/>
            <a:ext cx="49651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C25C"/>
                </a:solidFill>
                <a:latin typeface="Aptos"/>
              </a:rPr>
              <a:t>Transposition alone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21408"/>
            <a:ext cx="4965192" cy="1435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5F8FF"/>
                </a:solidFill>
                <a:latin typeface="Aptos"/>
              </a:rPr>
              <a:t>Obscures the order, but preserves the exact symbols and their frequencies, giving attackers useful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77639"/>
            <a:ext cx="5349240" cy="141732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142231"/>
            <a:ext cx="50292" cy="1088136"/>
          </a:xfrm>
          <a:prstGeom prst="rect">
            <a:avLst/>
          </a:prstGeom>
          <a:solidFill>
            <a:srgbClr val="72E0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142231"/>
            <a:ext cx="49651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72E0AB"/>
                </a:solidFill>
                <a:latin typeface="Aptos"/>
              </a:rPr>
              <a:t>Combining both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544568"/>
            <a:ext cx="49651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F"/>
                </a:solidFill>
                <a:latin typeface="Aptos"/>
              </a:rPr>
              <a:t>Historically, multiple stages can make analysis harder than either stage alone.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77639"/>
            <a:ext cx="5349240" cy="141732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7" y="4142231"/>
            <a:ext cx="50292" cy="1088136"/>
          </a:xfrm>
          <a:prstGeom prst="rect">
            <a:avLst/>
          </a:prstGeom>
          <a:solidFill>
            <a:srgbClr val="37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142231"/>
            <a:ext cx="49651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37D2DC"/>
                </a:solidFill>
                <a:latin typeface="Aptos"/>
              </a:rPr>
              <a:t>Modern cryptography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544568"/>
            <a:ext cx="4965192" cy="7040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5F8FF"/>
                </a:solidFill>
                <a:latin typeface="Aptos"/>
              </a:rPr>
              <a:t>Use vetted algorithms such as AES or ChaCha20 with sound key management—not homemade ciphers.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42432"/>
            <a:ext cx="105156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5F8FF"/>
                </a:solidFill>
                <a:latin typeface="Aptos"/>
              </a:rPr>
              <a:t>Verdict: security depends on the full design, key strength, and implementation—not the label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961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37D2DC"/>
                </a:solidFill>
                <a:latin typeface="Aptos"/>
              </a:rPr>
              <a:t>06 •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F5F8FF"/>
                </a:solidFill>
                <a:latin typeface="Aptos"/>
              </a:rPr>
              <a:t>Conclusion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97864"/>
            <a:ext cx="11109960" cy="22860"/>
          </a:xfrm>
          <a:prstGeom prst="rect">
            <a:avLst/>
          </a:prstGeom>
          <a:solidFill>
            <a:srgbClr val="1E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8C5DB"/>
                </a:solidFill>
                <a:latin typeface="Aptos"/>
              </a:rPr>
              <a:t>07 /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6583680" cy="342900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 Substitution replaces symbols; transposition rearranges their positions.</a:t>
            </a:r>
          </a:p>
          <a:p>
            <a:pPr>
              <a:spcAft>
                <a:spcPts val="16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 Both are important foundations for understanding classical cryptography.</a:t>
            </a:r>
          </a:p>
          <a:p>
            <a:pPr>
              <a:spcAft>
                <a:spcPts val="16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 Each has weaknesses when used alone, especially against statistical and structural analysis.</a:t>
            </a:r>
          </a:p>
          <a:p>
            <a:pPr>
              <a:spcAft>
                <a:spcPts val="1600"/>
              </a:spcAft>
              <a:defRPr sz="1800">
                <a:solidFill>
                  <a:srgbClr val="F5F8FF"/>
                </a:solidFill>
                <a:latin typeface="Aptos"/>
              </a:defRPr>
            </a:pPr>
            <a:r>
              <a:t>•  Modern secure systems use thoroughly analyzed cryptographic algorithms and careful key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783080"/>
            <a:ext cx="3429000" cy="1965960"/>
          </a:xfrm>
          <a:prstGeom prst="roundRect">
            <a:avLst/>
          </a:prstGeom>
          <a:solidFill>
            <a:srgbClr val="17223B"/>
          </a:solidFill>
          <a:ln>
            <a:solidFill>
              <a:srgbClr val="1E2D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36408" y="1947672"/>
            <a:ext cx="50292" cy="1636776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947672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C25C"/>
                </a:solidFill>
                <a:latin typeface="Aptos"/>
              </a:rPr>
              <a:t>Final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350008"/>
            <a:ext cx="3044952" cy="12527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5F8FF"/>
                </a:solidFill>
                <a:latin typeface="Aptos"/>
              </a:rPr>
              <a:t>Neither is inherently “better” in every context. For real-world security, use modern, standardized cryptography.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5156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37D2DC"/>
                </a:solidFill>
                <a:latin typeface="Apto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B8C5DB"/>
                </a:solidFill>
                <a:latin typeface="Aptos"/>
              </a:rPr>
              <a:t>B Yogitha  •  Reg. No. 192525437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